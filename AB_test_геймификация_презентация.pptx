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8138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C2026"/>
                </a:solidFill>
                <a:latin typeface="Aptos"/>
              </a:rPr>
              <a:t>A/B-тест: геймификация
в образовательной платформе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788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26973"/>
                </a:solidFill>
                <a:latin typeface="Aptos"/>
              </a:rPr>
              <a:t>Оценка влияния системы достижений на завершение курса и удержание учеников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23960" y="123444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88552" y="1371600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Эксперимент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88552" y="1709928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026"/>
                </a:solidFill>
                <a:latin typeface="Aptos"/>
              </a:rPr>
              <a:t>3 недели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88552" y="2212848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4 мая — 24 мая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880360"/>
            <a:ext cx="2423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3017520"/>
            <a:ext cx="2093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Пользователи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88552" y="3355848"/>
            <a:ext cx="2093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026"/>
                </a:solidFill>
                <a:latin typeface="Aptos"/>
              </a:rPr>
              <a:t>~6 000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3858768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A: 2 997 · B: 2 995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5FDC"/>
                </a:solidFill>
                <a:latin typeface="Aptos"/>
              </a:rPr>
              <a:t>Итог: эффект положительный в 5–9 классах, отрицательный в 10–11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1. Задача и дизайн эксперимента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5FDC"/>
                </a:solidFill>
                <a:latin typeface="Aptos"/>
              </a:rPr>
              <a:t>Гипотеза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2026"/>
                </a:solidFill>
                <a:latin typeface="Aptos"/>
              </a:rPr>
              <a:t>Геймификация с достижениями за регулярное решение задач повысит Completion Rate и Retention 7/14.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08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5FDC"/>
                </a:solidFill>
                <a:latin typeface="Aptos"/>
              </a:rPr>
              <a:t>Дизайн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• A — контроль: старый интерфейс</a:t>
            </a:r>
          </a:p>
          <a:p>
            <a:pPr>
              <a:spcAft>
                <a:spcPts val="7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• B — тест: интерфейс с геймификацией</a:t>
            </a:r>
          </a:p>
          <a:p>
            <a:pPr>
              <a:spcAft>
                <a:spcPts val="7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• Случайное распределение пользователей</a:t>
            </a:r>
          </a:p>
          <a:p>
            <a:pPr>
              <a:spcAft>
                <a:spcPts val="7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• Горизонт эксперимента — 3 недели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5FDC"/>
                </a:solidFill>
                <a:latin typeface="Aptos"/>
              </a:rPr>
              <a:t>Основные 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Completion Rate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Retention 7 / 14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Time to Value — время до первого завершённого ДЗ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1605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26973"/>
                </a:solidFill>
                <a:latin typeface="Aptos"/>
              </a:rPr>
              <a:t>Дополнительно: качество данных, SRM, воронка, статистические тесты, MDE, sensitivity analysis и сегментация по классам.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2. Качество данных и sanity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554480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Строк в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892808"/>
            <a:ext cx="2002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026"/>
                </a:solidFill>
                <a:latin typeface="Aptos"/>
              </a:rPr>
              <a:t>6 008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1284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6 000 уникальных пользователей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0712" y="1554480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Событий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712" y="1892808"/>
            <a:ext cx="2002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026"/>
                </a:solidFill>
                <a:latin typeface="Aptos"/>
              </a:rPr>
              <a:t>179 330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21284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5 типов событий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1" y="1554480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Конфликтов групп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1" y="1892808"/>
            <a:ext cx="2002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026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221284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после очистки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554480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SRM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1892808"/>
            <a:ext cx="2002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p = 0.98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21284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проблемы со сплитом нет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026"/>
                </a:solidFill>
                <a:latin typeface="Aptos"/>
              </a:rPr>
              <a:t>Что было найдено и исправлено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20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8 дубликатов user_id в таблице групп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2 полных дубликата событий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12 сверхактивных пользователей (&gt;300 событий) — проверены в sensitivity analysis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Пропусков в исходных users/events не обнаружено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520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5FDC"/>
                </a:solidFill>
                <a:latin typeface="Aptos"/>
              </a:rPr>
              <a:t>После очистки:
A — 2 997 пользователей
B — 2 995 пользователей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3. Воронка: где возникает основной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90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Aptos"/>
              </a:rPr>
              <a:t>Логин → старт ДЗ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1965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973"/>
                </a:solidFill>
                <a:latin typeface="Aptos"/>
              </a:rPr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837943"/>
            <a:ext cx="3931920" cy="35433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1837943"/>
            <a:ext cx="3548164" cy="354330"/>
          </a:xfrm>
          <a:prstGeom prst="rect">
            <a:avLst/>
          </a:prstGeom>
          <a:solidFill>
            <a:srgbClr val="9B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7830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2026"/>
                </a:solidFill>
                <a:latin typeface="Aptos"/>
              </a:rPr>
              <a:t>90.2%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21991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FDC"/>
                </a:solidFill>
                <a:latin typeface="Aptos"/>
              </a:rPr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240280"/>
            <a:ext cx="3931920" cy="35433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2240280"/>
            <a:ext cx="3561139" cy="354330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18541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75FDC"/>
                </a:solidFill>
                <a:latin typeface="Aptos"/>
              </a:rPr>
              <a:t>90.6%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192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Aptos"/>
              </a:rPr>
              <a:t>Старт → завершение ДЗ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4845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973"/>
                </a:solidFill>
                <a:latin typeface="Aptos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666744"/>
            <a:ext cx="3931920" cy="35433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3666744"/>
            <a:ext cx="2417475" cy="354330"/>
          </a:xfrm>
          <a:prstGeom prst="rect">
            <a:avLst/>
          </a:prstGeom>
          <a:solidFill>
            <a:srgbClr val="9B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611879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2026"/>
                </a:solidFill>
                <a:latin typeface="Aptos"/>
              </a:rPr>
              <a:t>36.9%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50791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FDC"/>
                </a:solidFill>
                <a:latin typeface="Aptos"/>
              </a:rP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069080"/>
            <a:ext cx="3931920" cy="35433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069080"/>
            <a:ext cx="3108182" cy="354330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014215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75FDC"/>
                </a:solidFill>
                <a:latin typeface="Aptos"/>
              </a:rPr>
              <a:t>47.4%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41732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1554480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Завершение ДЗ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189280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5FDC"/>
                </a:solidFill>
                <a:latin typeface="Aptos"/>
              </a:rPr>
              <a:t>36.9% → 47.4%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212848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конверсия на шаге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141732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1554480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Разница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189280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+10.5 п.п.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212848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B −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46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5FDC"/>
                </a:solidFill>
                <a:latin typeface="Aptos"/>
              </a:rPr>
              <a:t>Вывод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11880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2026"/>
                </a:solidFill>
                <a:latin typeface="Aptos"/>
              </a:rPr>
              <a:t>Геймификация почти не меняет переход от логина к старту ДЗ, но заметно усиливает переход от начатого задания к его завершению.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4. Ключевые результаты A/B-теста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26973"/>
                </a:solidFill>
                <a:latin typeface="Aptos"/>
              </a:rPr>
              <a:t>B — тестовая группа с геймификацией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075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Aptos"/>
              </a:rPr>
              <a:t>Completion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3677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973"/>
                </a:solidFill>
                <a:latin typeface="Aptos"/>
              </a:rPr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655064"/>
            <a:ext cx="3931920" cy="34290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655064"/>
            <a:ext cx="2728752" cy="342900"/>
          </a:xfrm>
          <a:prstGeom prst="rect">
            <a:avLst/>
          </a:prstGeom>
          <a:solidFill>
            <a:srgbClr val="9B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2026"/>
                </a:solidFill>
                <a:latin typeface="Aptos"/>
              </a:rPr>
              <a:t>34.7%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FDC"/>
                </a:solidFill>
                <a:latin typeface="Aptos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057400"/>
            <a:ext cx="3931920" cy="34290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057400"/>
            <a:ext cx="3452225" cy="342900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0025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75FDC"/>
                </a:solidFill>
                <a:latin typeface="Aptos"/>
              </a:rPr>
              <a:t>43.9%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44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Aptos"/>
              </a:rPr>
              <a:t>Retention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7413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973"/>
                </a:solidFill>
                <a:latin typeface="Aptos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392424"/>
            <a:ext cx="3931920" cy="34290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3392424"/>
            <a:ext cx="3176117" cy="342900"/>
          </a:xfrm>
          <a:prstGeom prst="rect">
            <a:avLst/>
          </a:prstGeom>
          <a:solidFill>
            <a:srgbClr val="9B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3375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2026"/>
                </a:solidFill>
                <a:latin typeface="Aptos"/>
              </a:rPr>
              <a:t>72.7%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FDC"/>
                </a:solidFill>
                <a:latin typeface="Aptos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3794760"/>
            <a:ext cx="3931920" cy="34290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3794760"/>
            <a:ext cx="3407664" cy="342900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7398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75FDC"/>
                </a:solidFill>
                <a:latin typeface="Aptos"/>
              </a:rPr>
              <a:t>78.0%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82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Aptos"/>
              </a:rPr>
              <a:t>Retention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1149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973"/>
                </a:solidFill>
                <a:latin typeface="Aptos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5129784"/>
            <a:ext cx="3931920" cy="34290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5129784"/>
            <a:ext cx="2516428" cy="342900"/>
          </a:xfrm>
          <a:prstGeom prst="rect">
            <a:avLst/>
          </a:prstGeom>
          <a:solidFill>
            <a:srgbClr val="9B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50749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2026"/>
                </a:solidFill>
                <a:latin typeface="Aptos"/>
              </a:rPr>
              <a:t>28.8%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1383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FDC"/>
                </a:solidFill>
                <a:latin typeface="Aptos"/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5532120"/>
            <a:ext cx="3931920" cy="34290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1560" y="5532120"/>
            <a:ext cx="3163011" cy="342900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54772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75FDC"/>
                </a:solidFill>
                <a:latin typeface="Aptos"/>
              </a:rPr>
              <a:t>36.2%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3258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1463039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Completion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180136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+9.2 п.п.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2121408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p = 1.1×10⁻⁸⁹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132588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79992" y="1463039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Retention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9992" y="180136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+5.3 п.п.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2121408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p = 2.4×10⁻⁶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0632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3200400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Retention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353872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+7.5 п.п.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3858768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p = 6.9×10⁻¹⁰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30632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79992" y="3200400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Мощность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9992" y="3538728"/>
            <a:ext cx="19110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5FDC"/>
                </a:solidFill>
                <a:latin typeface="Aptos"/>
              </a:rPr>
              <a:t>≥95%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9992" y="3858768"/>
            <a:ext cx="1911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по ключевым метрикам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9204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На агрегированном уровне эффект статистически значим и заметен не только статистически, но и практически.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5. Time to Value: ученики быстрее доходят до первого результата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Медиана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9280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026"/>
                </a:solidFill>
                <a:latin typeface="Aptos"/>
              </a:rPr>
              <a:t>50.2 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00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до первого завершённого ДЗ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Медиана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189280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5FDC"/>
                </a:solidFill>
                <a:latin typeface="Aptos"/>
              </a:rPr>
              <a:t>25.2 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3500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до первого завершённого ДЗ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Изменение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9280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−25.0 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500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−50%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1732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55448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p-value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892808"/>
            <a:ext cx="21396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5FDC"/>
                </a:solidFill>
                <a:latin typeface="Aptos"/>
              </a:rPr>
              <a:t>1.7×10⁻²³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3500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различие статистически значимо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026"/>
                </a:solidFill>
                <a:latin typeface="Aptos"/>
              </a:rPr>
              <a:t>Активация за первые 24 часа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76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Aptos"/>
              </a:rPr>
              <a:t>Дошли до первого ДЗ ≤24 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26973"/>
                </a:solidFill>
                <a:latin typeface="Aptos"/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123944"/>
            <a:ext cx="3886200" cy="35433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123944"/>
            <a:ext cx="2325243" cy="354330"/>
          </a:xfrm>
          <a:prstGeom prst="rect">
            <a:avLst/>
          </a:prstGeom>
          <a:solidFill>
            <a:srgbClr val="9BA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40690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C2026"/>
                </a:solidFill>
                <a:latin typeface="Aptos"/>
              </a:rPr>
              <a:t>35.9%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0799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5FDC"/>
                </a:solidFill>
                <a:latin typeface="Aptos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4526280"/>
            <a:ext cx="3886200" cy="354330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4526280"/>
            <a:ext cx="3057144" cy="354330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4714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75FDC"/>
                </a:solidFill>
                <a:latin typeface="Aptos"/>
              </a:rPr>
              <a:t>47.2%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39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2915C"/>
                </a:solidFill>
                <a:latin typeface="Aptos"/>
              </a:rPr>
              <a:t>35.9% → 47.2%  |  +11.3 п.п.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1772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Aptos"/>
              </a:rPr>
              <a:t>Фича не только удерживает пользователей, но и ускоряет получение первого результата.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6. Главный нюанс: эффект неоднороден по классам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657600"/>
            <a:ext cx="6400800" cy="13716"/>
          </a:xfrm>
          <a:prstGeom prst="rect">
            <a:avLst/>
          </a:prstGeom>
          <a:solidFill>
            <a:srgbClr val="E1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4712" y="2035807"/>
            <a:ext cx="292608" cy="1621792"/>
          </a:xfrm>
          <a:prstGeom prst="rect">
            <a:avLst/>
          </a:prstGeom>
          <a:solidFill>
            <a:srgbClr val="2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72184" y="2439432"/>
            <a:ext cx="292608" cy="1218167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5513831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26973"/>
                </a:solidFill>
                <a:latin typeface="Apto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9112" y="2026892"/>
            <a:ext cx="292608" cy="1630707"/>
          </a:xfrm>
          <a:prstGeom prst="rect">
            <a:avLst/>
          </a:prstGeom>
          <a:solidFill>
            <a:srgbClr val="2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86584" y="2392423"/>
            <a:ext cx="292608" cy="1265176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0824" y="5513831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26973"/>
                </a:solidFill>
                <a:latin typeface="Apto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3512" y="2402149"/>
            <a:ext cx="292608" cy="1255450"/>
          </a:xfrm>
          <a:prstGeom prst="rect">
            <a:avLst/>
          </a:prstGeom>
          <a:solidFill>
            <a:srgbClr val="2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0984" y="2207631"/>
            <a:ext cx="292608" cy="1449968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5513831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26973"/>
                </a:solidFill>
                <a:latin typeface="Aptos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67912" y="2935452"/>
            <a:ext cx="292608" cy="722147"/>
          </a:xfrm>
          <a:prstGeom prst="rect">
            <a:avLst/>
          </a:prstGeom>
          <a:solidFill>
            <a:srgbClr val="2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4" y="3181841"/>
            <a:ext cx="292608" cy="475758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9624" y="5513831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26973"/>
                </a:solidFill>
                <a:latin typeface="Aptos"/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82312" y="2888444"/>
            <a:ext cx="292608" cy="769155"/>
          </a:xfrm>
          <a:prstGeom prst="rect">
            <a:avLst/>
          </a:prstGeom>
          <a:solidFill>
            <a:srgbClr val="22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9784" y="3225608"/>
            <a:ext cx="292608" cy="431991"/>
          </a:xfrm>
          <a:prstGeom prst="rect">
            <a:avLst/>
          </a:prstGeom>
          <a:solidFill>
            <a:srgbClr val="37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4" y="5513831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26973"/>
                </a:solidFill>
                <a:latin typeface="Aptos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96712" y="3657600"/>
            <a:ext cx="292608" cy="370394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44184" y="3657600"/>
            <a:ext cx="292608" cy="440096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8424" y="5513831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26973"/>
                </a:solidFill>
                <a:latin typeface="Aptos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11112" y="3657600"/>
            <a:ext cx="292608" cy="44739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58584" y="3657600"/>
            <a:ext cx="292608" cy="207485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5513831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26973"/>
                </a:solidFill>
                <a:latin typeface="Aptos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1417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915C"/>
                </a:solidFill>
                <a:latin typeface="Aptos"/>
              </a:rPr>
              <a:t>Completion Rate Δ, п.п.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1417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5FDC"/>
                </a:solidFill>
                <a:latin typeface="Aptos"/>
              </a:rPr>
              <a:t>Retention 14 Δ, п.п.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187451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2026"/>
                </a:solidFill>
                <a:latin typeface="Aptos"/>
              </a:rPr>
              <a:t>Положительный эффект: 5–9 классы
Отрицательный эффект: 10–11 классы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461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D4646"/>
                </a:solidFill>
                <a:latin typeface="Aptos"/>
              </a:rPr>
              <a:t>Interaction group × grade:
F = 100.3
p ≈ 1.0×10⁻¹²⁰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7091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26973"/>
                </a:solidFill>
                <a:latin typeface="Aptos"/>
              </a:rPr>
              <a:t>Это формальное подтверждение того, что эффект зависит от класса, а не просто визуальная разница на графике.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7. Практический эффект на 10 000 учеников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Retention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847088"/>
            <a:ext cx="2185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+746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0008"/>
            <a:ext cx="2185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дополнительных удержанных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508760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Retention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1847088"/>
            <a:ext cx="2185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+526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350008"/>
            <a:ext cx="2185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дополнительных удержанных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08760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47088"/>
            <a:ext cx="2185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2915C"/>
                </a:solidFill>
                <a:latin typeface="Aptos"/>
              </a:rPr>
              <a:t>+9.2 п.п.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50008"/>
            <a:ext cx="2185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эффект B −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508760"/>
            <a:ext cx="2185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26973"/>
                </a:solidFill>
                <a:latin typeface="Aptos"/>
              </a:rPr>
              <a:t>Time to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847088"/>
            <a:ext cx="2185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75FDC"/>
                </a:solidFill>
                <a:latin typeface="Aptos"/>
              </a:rPr>
              <a:t>×2 быстрее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350008"/>
            <a:ext cx="2185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26973"/>
                </a:solidFill>
                <a:latin typeface="Aptos"/>
              </a:rPr>
              <a:t>медиана 50.2 → 25.2 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75FDC"/>
                </a:solidFill>
                <a:latin typeface="Aptos"/>
              </a:rPr>
              <a:t>Но агрегат скрывает сегментный риск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• 5–9 классы: +863 удержанных на R14 на 10 000 учеников</a:t>
            </a:r>
          </a:p>
          <a:p>
            <a:pPr>
              <a:spcAft>
                <a:spcPts val="7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• 10–11 классы: −113 удержанных на R14 на 10 000</a:t>
            </a:r>
          </a:p>
          <a:p>
            <a:pPr>
              <a:spcAft>
                <a:spcPts val="700"/>
              </a:spcAft>
              <a:defRPr sz="1700">
                <a:solidFill>
                  <a:srgbClr val="1C2026"/>
                </a:solidFill>
                <a:latin typeface="Aptos"/>
              </a:defRPr>
            </a:pPr>
            <a:r>
              <a:t>• Доля 10–11 классов — около 28% аудитории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749039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2026"/>
                </a:solidFill>
                <a:latin typeface="Aptos"/>
              </a:rPr>
              <a:t>Сегментированная раскатка сохраняет сильный положительный эффект и избегает ухудшения метрик у старшей школы.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8. Надёжность результата и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915C"/>
                </a:solidFill>
                <a:latin typeface="Aptos"/>
              </a:rPr>
              <a:t>Что подтверждает устойчивость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SRM отсутствует: p = 0.98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Мощность ключевых тестов ≥95%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Удаление 12 сверхактивных пользователей не изменило выводы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Проверена гетерогенность через interaction-тест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4646"/>
                </a:solidFill>
                <a:latin typeface="Aptos"/>
              </a:rPr>
              <a:t>Что остаётся неизвестным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Эксперимент длился 3 недели — нет R28/R60/R90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Нет данных о платежах и LTV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Нет NPS/CSAT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Completion Rate — прокси прогресса по ДЗ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Не проверялся баланс по полу, устройству и каналу привлечения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5FDC"/>
                </a:solidFill>
                <a:latin typeface="Aptos"/>
              </a:rPr>
              <a:t>Вывод: найденный эффект подтверждён в рамках эксперимента, но долгосрочный бизнес-эффект требует дополнительной проверки.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C2026"/>
                </a:solidFill>
                <a:latin typeface="Aptos"/>
              </a:rPr>
              <a:t>9. Бизнес-рекомендация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D4646"/>
                </a:solidFill>
                <a:latin typeface="Aptos"/>
              </a:rPr>
              <a:t>Не раскатывать механику одинаково на всю аудиторию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52578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915C"/>
                </a:solidFill>
                <a:latin typeface="Aptos"/>
              </a:rPr>
              <a:t>5–9 классы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70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915C"/>
                </a:solidFill>
                <a:latin typeface="Aptos"/>
              </a:rPr>
              <a:t>РАСКАТИТЬ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Стабильный положительный эффект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Completion Rate и Retention 14 растут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Time to Value сокращается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Около 72% аудитории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2578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D4646"/>
                </a:solidFill>
                <a:latin typeface="Aptos"/>
              </a:rPr>
              <a:t>10–11 классы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70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4646"/>
                </a:solidFill>
                <a:latin typeface="Aptos"/>
              </a:rPr>
              <a:t>ДОРАБОТАТЬ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4612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Completion Rate снижается на 4.6–5.5 п.п.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Retention 14 снижается на 2.6–5.4 п.п.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Пересмотреть механику регулярности</a:t>
            </a:r>
          </a:p>
          <a:p>
            <a:pPr>
              <a:spcAft>
                <a:spcPts val="700"/>
              </a:spcAft>
              <a:defRPr sz="1600">
                <a:solidFill>
                  <a:srgbClr val="1C2026"/>
                </a:solidFill>
                <a:latin typeface="Aptos"/>
              </a:defRPr>
            </a:pPr>
            <a:r>
              <a:t>• Провести повторный A/B-тест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5FDC"/>
                </a:solidFill>
                <a:latin typeface="Aptos"/>
              </a:rPr>
              <a:t>Следующий шаг: мониторинг R14/R28, Time to Value и Completion Rate по сегментам + повторный эксперимент для старшей школы.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269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Aptos"/>
              </a:rPr>
              <a:t>10. Что показал проект с точки зрения аналитики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Проверка качества данных и корректности A/B-сплита</a:t>
            </a:r>
          </a:p>
          <a:p>
            <a:pPr>
              <a:spcAft>
                <a:spcPts val="7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Построение пользовательских продуктовых метрик</a:t>
            </a:r>
          </a:p>
          <a:p>
            <a:pPr>
              <a:spcAft>
                <a:spcPts val="7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Воронка и анализ поведения пользователей</a:t>
            </a:r>
          </a:p>
          <a:p>
            <a:pPr>
              <a:spcAft>
                <a:spcPts val="7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Статистические тесты для долей и непрерывных метрик</a:t>
            </a:r>
          </a:p>
          <a:p>
            <a:pPr>
              <a:spcAft>
                <a:spcPts val="7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p-value, доверительные интервалы, MDE и мощность</a:t>
            </a:r>
          </a:p>
          <a:p>
            <a:pPr>
              <a:spcAft>
                <a:spcPts val="7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Bootstrap и sensitivity analysis</a:t>
            </a:r>
          </a:p>
          <a:p>
            <a:pPr>
              <a:spcAft>
                <a:spcPts val="7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Сегментный анализ и interaction effect</a:t>
            </a:r>
          </a:p>
          <a:p>
            <a:pPr>
              <a:spcAft>
                <a:spcPts val="7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Перевод статистического результата в бизнес-рекомендацию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75FDC"/>
                </a:solidFill>
                <a:latin typeface="Aptos"/>
              </a:rPr>
              <a:t>Главный вывод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9659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2026"/>
                </a:solidFill>
                <a:latin typeface="Aptos"/>
              </a:rPr>
              <a:t>Сильный аналитический результат — это не просто «p &lt; 0.05».
Нужно проверить качество эксперимента, величину эффекта, устойчивость результата и понять, одинаково ли функция работает для разных сегментов.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75FDC"/>
                </a:solidFill>
                <a:latin typeface="Aptos"/>
              </a:rPr>
              <a:t>Спасибо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